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1024128"/>
            <a:ext cx="91440" cy="4480560"/>
          </a:xfrm>
          <a:prstGeom prst="rect">
            <a:avLst/>
          </a:prstGeom>
          <a:solidFill>
            <a:srgbClr val="27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950976"/>
            <a:ext cx="9875520" cy="32004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7D3BD"/>
                </a:solidFill>
                <a:latin typeface="Aptos"/>
              </a:rPr>
              <a:t>SATELLITE INTELLIGENCE  /  LAND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72768"/>
            <a:ext cx="9784080" cy="193852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300" b="1">
                <a:solidFill>
                  <a:srgbClr val="F5F8FA"/>
                </a:solidFill>
                <a:latin typeface="Aptos Display"/>
              </a:rPr>
              <a:t>SATELLITE
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30752"/>
            <a:ext cx="9052560" cy="50292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85BFFF"/>
                </a:solidFill>
                <a:latin typeface="Aptos"/>
              </a:rPr>
              <a:t>A transparent, local-first GeoTIFF analysis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56048"/>
            <a:ext cx="9875520" cy="32918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Hackathon project  |  Evidence-based release review  |  10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10424160" cy="38404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C86B"/>
                </a:solidFill>
                <a:latin typeface="Aptos"/>
              </a:rPr>
              <a:t>LOCAL SYNTHETIC DEMO VERIFIED  /  LIVE CLOUD NOT 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7C6CE"/>
                </a:solidFill>
                <a:latin typeface="Aptos"/>
              </a:rPr>
              <a:t>SATELLITE VISION  /  PHASE 16  /  2026-10-10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5603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3BD"/>
                </a:solidFill>
                <a:latin typeface="Aptos"/>
              </a:rPr>
              <a:t>01 /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A"/>
                </a:solidFill>
                <a:latin typeface="Apto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10972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Multispectral rasters are useful, but hard to validate and interpret without a disciplined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0972"/>
          </a:xfrm>
          <a:prstGeom prst="rect">
            <a:avLst/>
          </a:prstGeom>
          <a:solidFill>
            <a:srgbClr val="18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7C6CE"/>
                </a:solidFill>
                <a:latin typeface="Aptos"/>
              </a:rPr>
              <a:t>SATELLITE VISION  /  PHASE 16  /  2026-10-10                                     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520440" cy="242316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85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84248"/>
            <a:ext cx="324612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85BFFF"/>
                </a:solidFill>
                <a:latin typeface="Aptos"/>
              </a:rPr>
              <a:t>Raw data is technical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3246120" cy="180136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A"/>
                </a:solidFill>
                <a:latin typeface="Aptos"/>
              </a:rPr>
              <a:t>Band files, nodata, grids and metadata make manual interpretation error-prone.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520440" cy="242316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FFC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84248"/>
            <a:ext cx="324612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C86B"/>
                </a:solidFill>
                <a:latin typeface="Aptos"/>
              </a:rPr>
              <a:t>Indicators need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39"/>
            <a:ext cx="3246120" cy="180136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A"/>
                </a:solidFill>
                <a:latin typeface="Aptos"/>
              </a:rPr>
              <a:t>An index threshold is a screening signal, not a definitive land-cover or causal 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74519"/>
            <a:ext cx="3520440" cy="242316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27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984248"/>
            <a:ext cx="324612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7D3BD"/>
                </a:solidFill>
                <a:latin typeface="Aptos"/>
              </a:rPr>
              <a:t>Evidence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377439"/>
            <a:ext cx="3246120" cy="180136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A"/>
                </a:solidFill>
                <a:latin typeface="Aptos"/>
              </a:rPr>
              <a:t>Users need visible provenance, quality warnings and an honest insufficient-data state.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332720" cy="6400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5F8FA"/>
                </a:solidFill>
                <a:latin typeface="Aptos"/>
              </a:rPr>
              <a:t>Goal: turn compatible user-provided rasters into interpretable, reproducible outputs.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5603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3BD"/>
                </a:solidFill>
                <a:latin typeface="Aptos"/>
              </a:rPr>
              <a:t>02 /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A"/>
                </a:solidFill>
                <a:latin typeface="Aptos"/>
              </a:rPr>
              <a:t>What is actually in this build?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10972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Implementation status is separated from cloud verification and future plans.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0972"/>
          </a:xfrm>
          <a:prstGeom prst="rect">
            <a:avLst/>
          </a:prstGeom>
          <a:solidFill>
            <a:srgbClr val="18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7C6CE"/>
                </a:solidFill>
                <a:latin typeface="Aptos"/>
              </a:rPr>
              <a:t>SATELLITE VISION  /  PHASE 16  /  2026-10-10                                     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10512"/>
            <a:ext cx="3611880" cy="338328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80D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20240"/>
            <a:ext cx="333756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80D7A7"/>
                </a:solidFill>
                <a:latin typeface="Aptos"/>
              </a:rPr>
              <a:t>VERIFIED LOCALLY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13432"/>
            <a:ext cx="3337560" cy="276148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A"/>
                </a:solidFill>
                <a:latin typeface="Aptos"/>
              </a:rPr>
              <a:t>NDVI / NDWI / NDBI
Rule-based land-cover baseline
Aligned NDVI change
Synthetic in-memory demo
Automated tests and frontend 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810512"/>
            <a:ext cx="3611880" cy="338328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FFC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920240"/>
            <a:ext cx="333756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C86B"/>
                </a:solidFill>
                <a:latin typeface="Aptos"/>
              </a:rPr>
              <a:t>CODE EXISTS; LIVE CHECK PENDING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313432"/>
            <a:ext cx="3337560" cy="276148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Supabase Auth checks
Owner-scoped API access
PostgreSQL migrations
Private Storage artifact code
Configured Vercel / Render 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810512"/>
            <a:ext cx="3611880" cy="338328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FF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0728" y="1920240"/>
            <a:ext cx="333756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857C"/>
                </a:solidFill>
                <a:latin typeface="Aptos"/>
              </a:rPr>
              <a:t>INCOMPLETE / NOT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8" y="2313432"/>
            <a:ext cx="3337560" cy="276148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Live scene search/download
AOI clipping / reprojection
Trained validated classifier
Durable background queue
Live cloud CRUD and user journey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5603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3BD"/>
                </a:solidFill>
                <a:latin typeface="Aptos"/>
              </a:rPr>
              <a:t>03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A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10972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Solid arrows show the normal local workflow; dashed labels are optional, not production-verified.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0972"/>
          </a:xfrm>
          <a:prstGeom prst="rect">
            <a:avLst/>
          </a:prstGeom>
          <a:solidFill>
            <a:srgbClr val="18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7C6CE"/>
                </a:solidFill>
                <a:latin typeface="Aptos"/>
              </a:rPr>
              <a:t>SATELLITE VISION  /  PHASE 16  /  2026-10-10                                     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03120"/>
            <a:ext cx="2240280" cy="123444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85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212848"/>
            <a:ext cx="196596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5BFFF"/>
                </a:solidFill>
                <a:latin typeface="Aptos"/>
              </a:rPr>
              <a:t>Browser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06039"/>
            <a:ext cx="1965960" cy="61264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A"/>
                </a:solidFill>
                <a:latin typeface="Aptos"/>
              </a:rPr>
              <a:t>React + Vite
Maps, charts, downloads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468880"/>
            <a:ext cx="384048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27D3BD"/>
                </a:solidFill>
                <a:latin typeface="Aptos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103120"/>
            <a:ext cx="2331720" cy="123444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27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212848"/>
            <a:ext cx="205740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7D3BD"/>
                </a:solidFill>
                <a:latin typeface="Aptos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06039"/>
            <a:ext cx="2057400" cy="61264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A"/>
                </a:solidFill>
                <a:latin typeface="Aptos"/>
              </a:rPr>
              <a:t>REST API
validation + 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2468880"/>
            <a:ext cx="384048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27D3BD"/>
                </a:solidFill>
                <a:latin typeface="Aptos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2103120"/>
            <a:ext cx="2331720" cy="123444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27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212848"/>
            <a:ext cx="205740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7D3BD"/>
                </a:solidFill>
                <a:latin typeface="Aptos"/>
              </a:rPr>
              <a:t>Raster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606039"/>
            <a:ext cx="2057400" cy="61264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A"/>
                </a:solidFill>
                <a:latin typeface="Aptos"/>
              </a:rPr>
              <a:t>Rasterio + NumPy
indices + 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468880"/>
            <a:ext cx="384048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27D3BD"/>
                </a:solidFill>
                <a:latin typeface="Apto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0848" y="2103120"/>
            <a:ext cx="2331720" cy="123444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85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2212848"/>
            <a:ext cx="205740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5BFFF"/>
                </a:solidFill>
                <a:latin typeface="Aptos"/>
              </a:rPr>
              <a:t>Local 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606039"/>
            <a:ext cx="2057400" cy="61264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A"/>
                </a:solidFill>
                <a:latin typeface="Aptos"/>
              </a:rPr>
              <a:t>GeoTIFF input
local outputs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160520"/>
            <a:ext cx="3749039" cy="114300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FFC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4270248"/>
            <a:ext cx="347472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C86B"/>
                </a:solidFill>
                <a:latin typeface="Aptos"/>
              </a:rPr>
              <a:t>OPTIONAL: SUPABASE 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663440"/>
            <a:ext cx="3474720" cy="52120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A"/>
                </a:solidFill>
                <a:latin typeface="Aptos"/>
              </a:rPr>
              <a:t>Backend verifies bearer with Auth user endpoint.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160520"/>
            <a:ext cx="3749039" cy="114300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FFC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270248"/>
            <a:ext cx="347472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C86B"/>
                </a:solidFill>
                <a:latin typeface="Aptos"/>
              </a:rPr>
              <a:t>OPTIONAL: POSTGRES + PRIVATE 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663440"/>
            <a:ext cx="3474720" cy="52120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A"/>
                </a:solidFill>
                <a:latin typeface="Aptos"/>
              </a:rPr>
              <a:t>Metadata and binary artifact paths.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596128"/>
            <a:ext cx="841248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C86B"/>
                </a:solidFill>
                <a:latin typeface="Aptos"/>
              </a:rPr>
              <a:t>Production database, Auth and object storage were not verified.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5603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3BD"/>
                </a:solidFill>
                <a:latin typeface="Aptos"/>
              </a:rPr>
              <a:t>04 /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A"/>
                </a:solidFill>
                <a:latin typeface="Aptos"/>
              </a:rPr>
              <a:t>Data flow and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10972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Inputs must already be prepared and aligned; the application does not silently change their grid.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0972"/>
          </a:xfrm>
          <a:prstGeom prst="rect">
            <a:avLst/>
          </a:prstGeom>
          <a:solidFill>
            <a:srgbClr val="18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7C6CE"/>
                </a:solidFill>
                <a:latin typeface="Aptos"/>
              </a:rPr>
              <a:t>SATELLITE VISION  /  PHASE 16  /  2026-10-10                                     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2039112" cy="182880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85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58568"/>
            <a:ext cx="1764792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5BFFF"/>
                </a:solidFill>
                <a:latin typeface="Aptos"/>
              </a:rPr>
              <a:t>1 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1764792" cy="120700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A"/>
                </a:solidFill>
                <a:latin typeface="Aptos"/>
              </a:rPr>
              <a:t>Single-band GeoTIFFs
B02 / B03 / B04 / B08 / B11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1176" y="2788920"/>
            <a:ext cx="283464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7D3BD"/>
                </a:solidFill>
                <a:latin typeface="Aptos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43784" y="2148840"/>
            <a:ext cx="2039112" cy="182880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27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2258568"/>
            <a:ext cx="1764792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7D3BD"/>
                </a:solidFill>
                <a:latin typeface="Aptos"/>
              </a:rPr>
              <a:t>2 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2651760"/>
            <a:ext cx="1764792" cy="120700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A"/>
                </a:solidFill>
                <a:latin typeface="Aptos"/>
              </a:rPr>
              <a:t>Required bands
size / CRS / 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788920"/>
            <a:ext cx="283464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7D3BD"/>
                </a:solidFill>
                <a:latin typeface="Aptos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4648" y="2148840"/>
            <a:ext cx="2039112" cy="182880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85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2258568"/>
            <a:ext cx="1764792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5BFFF"/>
                </a:solidFill>
                <a:latin typeface="Aptos"/>
              </a:rPr>
              <a:t>3  MASK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2651760"/>
            <a:ext cx="1764792" cy="120700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A"/>
                </a:solidFill>
                <a:latin typeface="Aptos"/>
              </a:rPr>
              <a:t>Nodata + finite values
zero denominator excluded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904" y="2788920"/>
            <a:ext cx="283464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7D3BD"/>
                </a:solidFill>
                <a:latin typeface="Apto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2148840"/>
            <a:ext cx="2039112" cy="182880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27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2" y="2258568"/>
            <a:ext cx="1764792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7D3BD"/>
                </a:solidFill>
                <a:latin typeface="Aptos"/>
              </a:rPr>
              <a:t>4  CALCULATE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2651760"/>
            <a:ext cx="1764792" cy="120700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A"/>
                </a:solidFill>
                <a:latin typeface="Aptos"/>
              </a:rPr>
              <a:t>Indices / class rules
optional historical difference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3768" y="2788920"/>
            <a:ext cx="283464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7D3BD"/>
                </a:solidFill>
                <a:latin typeface="Aptos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66376" y="2148840"/>
            <a:ext cx="2039112" cy="182880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85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3536" y="2258568"/>
            <a:ext cx="1764792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5BFFF"/>
                </a:solidFill>
                <a:latin typeface="Aptos"/>
              </a:rPr>
              <a:t>5  DELIVER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3536" y="2651760"/>
            <a:ext cx="1764792" cy="120700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A"/>
                </a:solidFill>
                <a:latin typeface="Aptos"/>
              </a:rPr>
              <a:t>Statistics + GeoTIFF
PNG overlay + 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800600"/>
            <a:ext cx="10424160" cy="65836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5F8FA"/>
                </a:solidFill>
                <a:latin typeface="Aptos"/>
              </a:rPr>
              <a:t>Misaligned rasters, unsupported AOIs and missing bands produce explicit errors or unavailable states.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5603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3BD"/>
                </a:solidFill>
                <a:latin typeface="Aptos"/>
              </a:rPr>
              <a:t>05 /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A"/>
                </a:solidFill>
                <a:latin typeface="Aptos"/>
              </a:rPr>
              <a:t>Satellite-derived indices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10972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Band ordering follows the code contract; an input filename/tag alone does not authenticate its sensor.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0972"/>
          </a:xfrm>
          <a:prstGeom prst="rect">
            <a:avLst/>
          </a:prstGeom>
          <a:solidFill>
            <a:srgbClr val="18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7C6CE"/>
                </a:solidFill>
                <a:latin typeface="Aptos"/>
              </a:rPr>
              <a:t>SATELLITE VISION  /  PHASE 16  /  2026-10-10                                     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2788920" cy="105156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27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92807"/>
            <a:ext cx="251460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7D3BD"/>
                </a:solidFill>
                <a:latin typeface="Aptos"/>
              </a:rPr>
              <a:t>NDVI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2514600" cy="42976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5F8FA"/>
                </a:solidFill>
                <a:latin typeface="Aptos"/>
              </a:rPr>
              <a:t>B08 NIR + B04 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874519"/>
            <a:ext cx="4114800" cy="42976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5F8FA"/>
                </a:solidFill>
                <a:latin typeface="Aptos"/>
              </a:rPr>
              <a:t>(B08 - B04) / (B08 + B04)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901952"/>
            <a:ext cx="338328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6CE"/>
                </a:solidFill>
                <a:latin typeface="Aptos"/>
              </a:rPr>
              <a:t>Vegetation greenness indicator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36391"/>
            <a:ext cx="2788920" cy="105156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27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251460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7D3BD"/>
                </a:solidFill>
                <a:latin typeface="Aptos"/>
              </a:rPr>
              <a:t>McFeeters NDWI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39311"/>
            <a:ext cx="2514600" cy="42976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5F8FA"/>
                </a:solidFill>
                <a:latin typeface="Aptos"/>
              </a:rPr>
              <a:t>B03 Green + B08 NIR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227832"/>
            <a:ext cx="4114800" cy="42976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5F8FA"/>
                </a:solidFill>
                <a:latin typeface="Aptos"/>
              </a:rPr>
              <a:t>(B03 - B08) / (B03 + B08)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55263"/>
            <a:ext cx="338328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6CE"/>
                </a:solidFill>
                <a:latin typeface="Aptos"/>
              </a:rPr>
              <a:t>Water-related indicator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489704"/>
            <a:ext cx="2788920" cy="105156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27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99432"/>
            <a:ext cx="251460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7D3BD"/>
                </a:solidFill>
                <a:latin typeface="Aptos"/>
              </a:rPr>
              <a:t>NDBI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92624"/>
            <a:ext cx="2514600" cy="42976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5F8FA"/>
                </a:solidFill>
                <a:latin typeface="Aptos"/>
              </a:rPr>
              <a:t>B11 SWIR + B08 NIR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581144"/>
            <a:ext cx="4114800" cy="42976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5F8FA"/>
                </a:solidFill>
                <a:latin typeface="Aptos"/>
              </a:rPr>
              <a:t>(B11 - B08) / (B11 + B08)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608576"/>
            <a:ext cx="338328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6CE"/>
                </a:solidFill>
                <a:latin typeface="Aptos"/>
              </a:rPr>
              <a:t>Built-up indicator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C86B"/>
                </a:solidFill>
                <a:latin typeface="Aptos"/>
              </a:rPr>
              <a:t>Zero denominators / nodata are invalid; values are not silently clipped to [-1, 1].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5603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3BD"/>
                </a:solidFill>
                <a:latin typeface="Aptos"/>
              </a:rPr>
              <a:t>06 /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A"/>
                </a:solidFill>
                <a:latin typeface="Aptos"/>
              </a:rPr>
              <a:t>Classification and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10972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Interpretation is intentionally cautious: the active classes are transparent rules, not trained predictions.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0972"/>
          </a:xfrm>
          <a:prstGeom prst="rect">
            <a:avLst/>
          </a:prstGeom>
          <a:solidFill>
            <a:srgbClr val="18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7C6CE"/>
                </a:solidFill>
                <a:latin typeface="Aptos"/>
              </a:rPr>
              <a:t>SATELLITE VISION  /  PHASE 16  /  2026-10-10                                     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10512"/>
            <a:ext cx="5257800" cy="3401568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27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98348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7D3BD"/>
                </a:solidFill>
                <a:latin typeface="Aptos"/>
              </a:rPr>
              <a:t>CLASS PRECEDENCE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4983480" cy="2779776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5F8FA"/>
                </a:solidFill>
                <a:latin typeface="Aptos"/>
              </a:rPr>
              <a:t>1. Water: NDWI &gt; 0.1
2. Built-up: NDBI &gt; 0.05
3. Vegetation: NDVI &gt;= 0.45
4. Agriculture: NDVI &gt;= 0.25
5. Otherwise Bare land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810512"/>
            <a:ext cx="5257800" cy="3401568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85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20240"/>
            <a:ext cx="498348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85BFFF"/>
                </a:solidFill>
                <a:latin typeface="Aptos"/>
              </a:rPr>
              <a:t>HISTORICAL DIFFERENCE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313432"/>
            <a:ext cx="4983480" cy="2779776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5F8FA"/>
                </a:solidFill>
                <a:latin typeface="Aptos"/>
              </a:rPr>
              <a:t>NDVI change = current - historical
Requires aligned grids and valid pixels.
Describes a paired-period difference; it does not establish cause.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C86B"/>
                </a:solidFill>
                <a:latin typeface="Aptos"/>
              </a:rPr>
              <a:t>No AOI clipping, automatic reprojection, atmospheric correction or cloud mask is implemented.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5603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3BD"/>
                </a:solidFill>
                <a:latin typeface="Aptos"/>
              </a:rPr>
              <a:t>07 / MODEL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A"/>
                </a:solidFill>
                <a:latin typeface="Aptos"/>
              </a:rPr>
              <a:t>AI/ML: what we can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10972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A Random Forest wrapper exists, but is untrained and not used for the land-cover output.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0972"/>
          </a:xfrm>
          <a:prstGeom prst="rect">
            <a:avLst/>
          </a:prstGeom>
          <a:solidFill>
            <a:srgbClr val="18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7C6CE"/>
                </a:solidFill>
                <a:latin typeface="Aptos"/>
              </a:rPr>
              <a:t>SATELLITE VISION  /  PHASE 16  /  2026-10-10                                     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56432" cy="278892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27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3182112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7D3BD"/>
                </a:solidFill>
                <a:latin typeface="Aptos"/>
              </a:rPr>
              <a:t>ACTIVE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3182112" cy="216712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A"/>
                </a:solidFill>
                <a:latin typeface="Aptos"/>
              </a:rPr>
              <a:t>Index-threshold baseline with five rule labels.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3456432" cy="278892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FFC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938528"/>
            <a:ext cx="3182112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C86B"/>
                </a:solidFill>
                <a:latin typeface="Aptos"/>
              </a:rPr>
              <a:t>TRAINING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331720"/>
            <a:ext cx="3182112" cy="216712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A"/>
                </a:solidFill>
                <a:latin typeface="Aptos"/>
              </a:rPr>
              <a:t>No labeled training set or fitted model artifact is bundled.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456432" cy="278892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FF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4" y="1938528"/>
            <a:ext cx="3182112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857C"/>
                </a:solidFill>
                <a:latin typeface="Aptos"/>
              </a:rPr>
              <a:t>ACCURACY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2331720"/>
            <a:ext cx="3182112" cy="216712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A"/>
                </a:solidFill>
                <a:latin typeface="Aptos"/>
              </a:rPr>
              <a:t>No supported held-out ground truth; accuracy / F1 cannot be claimed.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38928"/>
            <a:ext cx="10149840" cy="6949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5F8FA"/>
                </a:solidFill>
                <a:latin typeface="Aptos"/>
              </a:rPr>
              <a:t>Temporal forecast code uses time-ordered evaluation only when enough dated observations exist; current history is insufficient for independent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5603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3BD"/>
                </a:solidFill>
                <a:latin typeface="Aptos"/>
              </a:rPr>
              <a:t>08 / ACTUAL LOCAL DEMO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A"/>
                </a:solidFill>
                <a:latin typeface="Aptos"/>
              </a:rPr>
              <a:t>Dashboard example: synthetic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10972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Values below were returned by the current local /api/geoai/demo endpoint; they are not satellite observations.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0972"/>
          </a:xfrm>
          <a:prstGeom prst="rect">
            <a:avLst/>
          </a:prstGeom>
          <a:solidFill>
            <a:srgbClr val="18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7C6CE"/>
                </a:solidFill>
                <a:latin typeface="Aptos"/>
              </a:rPr>
              <a:t>SATELLITE VISION  /  PHASE 16  /  2026-10-10                                     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10698480" cy="36576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C86B"/>
                </a:solidFill>
                <a:latin typeface="Aptos"/>
              </a:rPr>
              <a:t>SYNTHETIC 4 x 4 FIXTURE  |  16 VALID PIXELS  |  NO DATE OR GEOGRAPHIC LOCATION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2377440"/>
            <a:ext cx="16459" cy="2697480"/>
          </a:xfrm>
          <a:prstGeom prst="rect">
            <a:avLst/>
          </a:prstGeom>
          <a:solidFill>
            <a:srgbClr val="B7C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822960" cy="310896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F8FA"/>
                </a:solidFill>
                <a:latin typeface="Aptos"/>
              </a:rPr>
              <a:t>NDVI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2514600"/>
            <a:ext cx="2688978" cy="265176"/>
          </a:xfrm>
          <a:prstGeom prst="rect">
            <a:avLst/>
          </a:prstGeom>
          <a:solidFill>
            <a:srgbClr val="27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930" y="2478024"/>
            <a:ext cx="758952" cy="32004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7D3BD"/>
                </a:solidFill>
                <a:latin typeface="Aptos"/>
              </a:rPr>
              <a:t>+0.278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73552"/>
            <a:ext cx="822960" cy="310896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F8FA"/>
                </a:solidFill>
                <a:latin typeface="Aptos"/>
              </a:rPr>
              <a:t>NDWI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86615" y="3300984"/>
            <a:ext cx="2871184" cy="265176"/>
          </a:xfrm>
          <a:prstGeom prst="rect">
            <a:avLst/>
          </a:prstGeom>
          <a:solidFill>
            <a:srgbClr val="85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17935" y="3264408"/>
            <a:ext cx="758952" cy="32004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85BFFF"/>
                </a:solidFill>
                <a:latin typeface="Aptos"/>
              </a:rPr>
              <a:t>-0.297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59936"/>
            <a:ext cx="822960" cy="310896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F8FA"/>
                </a:solidFill>
                <a:latin typeface="Aptos"/>
              </a:rPr>
              <a:t>NDBI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96691" y="4087368"/>
            <a:ext cx="161108" cy="265176"/>
          </a:xfrm>
          <a:prstGeom prst="rect">
            <a:avLst/>
          </a:prstGeom>
          <a:solidFill>
            <a:srgbClr val="FFC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8011" y="4050792"/>
            <a:ext cx="758952" cy="32004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C86B"/>
                </a:solidFill>
                <a:latin typeface="Aptos"/>
              </a:rPr>
              <a:t>-0.017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2221992"/>
            <a:ext cx="2560320" cy="269748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27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2331720"/>
            <a:ext cx="228600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7D3BD"/>
                </a:solidFill>
                <a:latin typeface="Aptos"/>
              </a:rPr>
              <a:t>RULE 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724912"/>
            <a:ext cx="2286000" cy="207568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A"/>
                </a:solidFill>
                <a:latin typeface="Aptos"/>
              </a:rPr>
              <a:t>Built-up  8
Vegetation  4
Bare land  4
Agriculture  0
Water 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0515600" cy="38404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C86B"/>
                </a:solidFill>
                <a:latin typeface="Aptos"/>
              </a:rPr>
              <a:t>Synthetic reflectance-like inputs are uncalibrated. Counts are not real area or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5603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3BD"/>
                </a:solidFill>
                <a:latin typeface="Aptos"/>
              </a:rPr>
              <a:t>09 / OPTIONAL CLOUD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A"/>
                </a:solidFill>
                <a:latin typeface="Aptos"/>
              </a:rPr>
              <a:t>Database, storage and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10972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The current source implements cloud paths; live Supabase verification was not possible.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0972"/>
          </a:xfrm>
          <a:prstGeom prst="rect">
            <a:avLst/>
          </a:prstGeom>
          <a:solidFill>
            <a:srgbClr val="18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7C6CE"/>
                </a:solidFill>
                <a:latin typeface="Aptos"/>
              </a:rPr>
              <a:t>SATELLITE VISION  /  PHASE 16  /  2026-10-10                                    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3429000" cy="297180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85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38528"/>
            <a:ext cx="315468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85BFFF"/>
                </a:solidFill>
                <a:latin typeface="Aptos"/>
              </a:rPr>
              <a:t>SUPABASE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31720"/>
            <a:ext cx="3154680" cy="235000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A"/>
                </a:solidFill>
                <a:latin typeface="Aptos"/>
              </a:rPr>
              <a:t>Source validates bearer tokens server-side; owner identity scopes protected reads.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3429000" cy="297180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27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938528"/>
            <a:ext cx="315468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7D3BD"/>
                </a:solidFill>
                <a:latin typeface="Aptos"/>
              </a:rP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331720"/>
            <a:ext cx="3154680" cy="235000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A"/>
                </a:solidFill>
                <a:latin typeface="Aptos"/>
              </a:rPr>
              <a:t>Analysis/job status, owner, JSON summary and artifact references; Alembic revisions.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828800"/>
            <a:ext cx="3429000" cy="297180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FFC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938528"/>
            <a:ext cx="315468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C86B"/>
                </a:solidFill>
                <a:latin typeface="Aptos"/>
              </a:rPr>
              <a:t>PRIVATE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331720"/>
            <a:ext cx="3154680" cy="235000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A"/>
                </a:solidFill>
                <a:latin typeface="Aptos"/>
              </a:rPr>
              <a:t>Raster, image and report object bytes; signed access is short-lived where used.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3095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C86B"/>
                </a:solidFill>
                <a:latin typeface="Aptos"/>
              </a:rPr>
              <a:t>Mocked/local tests passed. Live CRUD, sign-in, upload and download were blocked; results GET accepted missing and malformed tokens.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5603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3BD"/>
                </a:solidFill>
                <a:latin typeface="Aptos"/>
              </a:rPr>
              <a:t>10 /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A"/>
                </a:solidFill>
                <a:latin typeface="Aptos"/>
              </a:rPr>
              <a:t>API and job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10972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Analysis work runs synchronously inside the API request; it is not dispatched to a durable worker.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0972"/>
          </a:xfrm>
          <a:prstGeom prst="rect">
            <a:avLst/>
          </a:prstGeom>
          <a:solidFill>
            <a:srgbClr val="18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7C6CE"/>
                </a:solidFill>
                <a:latin typeface="Aptos"/>
              </a:rPr>
              <a:t>SATELLITE VISION  /  PHASE 16  /  2026-10-10                                    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286000"/>
            <a:ext cx="2395728" cy="150876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27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395728"/>
            <a:ext cx="2121408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7D3BD"/>
                </a:solidFill>
                <a:latin typeface="Aptos"/>
              </a:rPr>
              <a:t>POST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788920"/>
            <a:ext cx="2121408" cy="88696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A"/>
                </a:solidFill>
                <a:latin typeface="Aptos"/>
              </a:rPr>
              <a:t>Idempotency key
optional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6" y="2788920"/>
            <a:ext cx="365760" cy="36576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7D3BD"/>
                </a:solidFill>
                <a:latin typeface="Aptos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286000"/>
            <a:ext cx="2395728" cy="150876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85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395728"/>
            <a:ext cx="2121408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5BFFF"/>
                </a:solidFill>
                <a:latin typeface="Aptos"/>
              </a:rPr>
              <a:t>queued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788920"/>
            <a:ext cx="2121408" cy="88696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A"/>
                </a:solidFill>
                <a:latin typeface="Aptos"/>
              </a:rPr>
              <a:t>Persisted transition
when DB configured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9904" y="2788920"/>
            <a:ext cx="365760" cy="36576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7D3BD"/>
                </a:solidFill>
                <a:latin typeface="Aptos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0528" y="2286000"/>
            <a:ext cx="2395728" cy="150876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27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2395728"/>
            <a:ext cx="2121408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7D3BD"/>
                </a:solidFill>
                <a:latin typeface="Aptos"/>
              </a:rPr>
              <a:t>running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2788920"/>
            <a:ext cx="2121408" cy="88696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A"/>
                </a:solidFill>
                <a:latin typeface="Aptos"/>
              </a:rPr>
              <a:t>Compute in request
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2788920"/>
            <a:ext cx="365760" cy="36576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7D3BD"/>
                </a:solidFill>
                <a:latin typeface="Apto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63456" y="2286000"/>
            <a:ext cx="2395728" cy="150876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85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0616" y="2395728"/>
            <a:ext cx="2121408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5BFFF"/>
                </a:solidFill>
                <a:latin typeface="Aptos"/>
              </a:rPr>
              <a:t>completed / failed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2788920"/>
            <a:ext cx="2121408" cy="886967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A"/>
                </a:solidFill>
                <a:latin typeface="Aptos"/>
              </a:rPr>
              <a:t>Persist status +
artifact 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92040"/>
            <a:ext cx="10241280" cy="54864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C86B"/>
                </a:solidFill>
                <a:latin typeface="Aptos"/>
              </a:rPr>
              <a:t>Process-local back-pressure and retry keys do not provide distributed scheduling or crash-resume.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5603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3BD"/>
                </a:solidFill>
                <a:latin typeface="Aptos"/>
              </a:rPr>
              <a:t>11 /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A"/>
                </a:solidFill>
                <a:latin typeface="Aptos"/>
              </a:rPr>
              <a:t>Automated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10972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Latest recorded local verification; tests are not live production checks.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0972"/>
          </a:xfrm>
          <a:prstGeom prst="rect">
            <a:avLst/>
          </a:prstGeom>
          <a:solidFill>
            <a:srgbClr val="18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7C6CE"/>
                </a:solidFill>
                <a:latin typeface="Aptos"/>
              </a:rPr>
              <a:t>SATELLITE VISION  /  PHASE 16  /  2026-10-10                                    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39112"/>
            <a:ext cx="2542032" cy="1847088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80D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48840"/>
            <a:ext cx="2267712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80D7A7"/>
                </a:solidFill>
                <a:latin typeface="Aptos"/>
              </a:rPr>
              <a:t>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542032"/>
            <a:ext cx="2267712" cy="1225295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A"/>
                </a:solidFill>
                <a:latin typeface="Aptos"/>
              </a:rPr>
              <a:t>backend tests 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93591" y="2039112"/>
            <a:ext cx="2542032" cy="1847088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80D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148840"/>
            <a:ext cx="2267712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80D7A7"/>
                </a:solidFill>
                <a:latin typeface="Aptos"/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542032"/>
            <a:ext cx="2267712" cy="1225295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A"/>
                </a:solidFill>
                <a:latin typeface="Aptos"/>
              </a:rPr>
              <a:t>frontend tests passed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3952" y="2039112"/>
            <a:ext cx="2542032" cy="1847088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27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2148840"/>
            <a:ext cx="2267712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7D3BD"/>
                </a:solidFill>
                <a:latin typeface="Aptos"/>
              </a:rPr>
              <a:t>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542032"/>
            <a:ext cx="2267712" cy="1225295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A"/>
                </a:solidFill>
                <a:latin typeface="Aptos"/>
              </a:rPr>
              <a:t>Vite production 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54311" y="2039112"/>
            <a:ext cx="2542032" cy="1847088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85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1472" y="2148840"/>
            <a:ext cx="2267712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85BFFF"/>
                </a:solidFill>
                <a:latin typeface="Aptos"/>
              </a:rPr>
              <a:t>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2542032"/>
            <a:ext cx="2267712" cy="1225295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A"/>
                </a:solidFill>
                <a:latin typeface="Aptos"/>
              </a:rPr>
              <a:t>local synthetic demo HTTP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72000"/>
            <a:ext cx="10515600" cy="50292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5F8FA"/>
                </a:solidFill>
                <a:latin typeface="Aptos"/>
              </a:rPr>
              <a:t>Backend: 0 failed, 3 warnings  |  Frontend: 0 failed  |  isolated storage/auth mocked  |  no live cloud CRUD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58384"/>
            <a:ext cx="10058400" cy="47548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Frontend npm audit (production dependencies): 0 vulnerabilities reported. Python advisory scan was not run.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5603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3BD"/>
                </a:solidFill>
                <a:latin typeface="Aptos"/>
              </a:rPr>
              <a:t>12 / PHASE 14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A"/>
                </a:solidFill>
                <a:latin typeface="Aptos"/>
              </a:rPr>
              <a:t>Performance: bounded local 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10972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Windows 11 / Python 3.14.3; deterministic 512 x 512 synthetic rasters; one request per client.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0972"/>
          </a:xfrm>
          <a:prstGeom prst="rect">
            <a:avLst/>
          </a:prstGeom>
          <a:solidFill>
            <a:srgbClr val="18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7C6CE"/>
                </a:solidFill>
                <a:latin typeface="Aptos"/>
              </a:rPr>
              <a:t>SATELLITE VISION  /  PHASE 16  /  2026-10-10                                     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1042415" cy="6949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7D3BD"/>
                </a:solidFill>
                <a:latin typeface="Aptos"/>
              </a:rPr>
              <a:t>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1874519"/>
            <a:ext cx="1728216" cy="6949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7D3BD"/>
                </a:solidFill>
                <a:latin typeface="Aptos"/>
              </a:rPr>
              <a:t>HTTP 200 / 503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1874519"/>
            <a:ext cx="2002536" cy="6949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7D3BD"/>
                </a:solidFill>
                <a:latin typeface="Aptos"/>
              </a:rPr>
              <a:t>All median / p95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1874519"/>
            <a:ext cx="2368296" cy="6949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7D3BD"/>
                </a:solidFill>
                <a:latin typeface="Aptos"/>
              </a:rPr>
              <a:t>Accepted median / p95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1874519"/>
            <a:ext cx="2002536" cy="6949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7D3BD"/>
                </a:solidFill>
                <a:latin typeface="Aptos"/>
              </a:rPr>
              <a:t>Sampled peak RSS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24327"/>
            <a:ext cx="1042415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5F8FA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2624327"/>
            <a:ext cx="1728216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1 /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624327"/>
            <a:ext cx="2002536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632 / 632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2624327"/>
            <a:ext cx="2368296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632 / 632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2624327"/>
            <a:ext cx="2002536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240 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236975"/>
            <a:ext cx="1042415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5F8FA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3236975"/>
            <a:ext cx="1728216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1 /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3236975"/>
            <a:ext cx="2002536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50 / 1,774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3236975"/>
            <a:ext cx="2368296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1,774 / 1,774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3236975"/>
            <a:ext cx="2002536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253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849624"/>
            <a:ext cx="1042415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5F8FA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5648" y="3849624"/>
            <a:ext cx="1728216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1 /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8728" y="3849624"/>
            <a:ext cx="2002536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75 / 928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6128" y="3849624"/>
            <a:ext cx="2368296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928 / 928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9288" y="3849624"/>
            <a:ext cx="2002536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250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462272"/>
            <a:ext cx="1042415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5F8FA"/>
                </a:solidFill>
                <a:latin typeface="Aptos"/>
              </a:rP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4462272"/>
            <a:ext cx="1728216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1 / 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8728" y="4462272"/>
            <a:ext cx="2002536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154 / 232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6128" y="4462272"/>
            <a:ext cx="2368296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1,896 / 1,896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4462272"/>
            <a:ext cx="2002536" cy="41148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259 MB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38928"/>
            <a:ext cx="1074420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85BFFF"/>
                </a:solidFill>
                <a:latin typeface="Aptos"/>
              </a:rPr>
              <a:t>Attempt / accepted analyses per second: 1.42/1.42, 2.56/0.51, 9.74/0.97, 11.83/0.47.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532120"/>
            <a:ext cx="10744200" cy="38404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C86B"/>
                </a:solidFill>
                <a:latin typeface="Aptos"/>
              </a:rPr>
              <a:t>At 5/10/25 clients, 80%/90%/96% were rejected with HTTP 503. One local rerun only; no capacity claim.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998464"/>
            <a:ext cx="10515600" cy="27432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B7C6CE"/>
                </a:solidFill>
                <a:latin typeface="Aptos"/>
              </a:rPr>
              <a:t>No PostgreSQL, Storage, production latency, or multi-instance behavior was measured.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5603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3BD"/>
                </a:solidFill>
                <a:latin typeface="Aptos"/>
              </a:rPr>
              <a:t>13 / RELEASE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A"/>
                </a:solidFill>
                <a:latin typeface="Aptos"/>
              </a:rPr>
              <a:t>Limitations and deployment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10972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A working build is not proof that the public deployment or cloud services are ready.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0972"/>
          </a:xfrm>
          <a:prstGeom prst="rect">
            <a:avLst/>
          </a:prstGeom>
          <a:solidFill>
            <a:srgbClr val="18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7C6CE"/>
                </a:solidFill>
                <a:latin typeface="Aptos"/>
              </a:rPr>
              <a:t>SATELLITE VISION  /  PHASE 16  /  2026-10-10                                    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349240" cy="342900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FFC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92807"/>
            <a:ext cx="507492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C86B"/>
                </a:solidFill>
                <a:latin typeface="Aptos"/>
              </a:rPr>
              <a:t>SCIENTIFIC / FUNCTIONAL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5074920" cy="280720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A"/>
                </a:solidFill>
                <a:latin typeface="Aptos"/>
              </a:rPr>
              <a:t>No live scene retrieval
No AOI clipping or cloud mask
No supervised ground truth
Forecast history insufficient
Source tags are unverified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783080"/>
            <a:ext cx="5349240" cy="342900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FF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892807"/>
            <a:ext cx="507492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857C"/>
                </a:solidFill>
                <a:latin typeface="Aptos"/>
              </a:rPr>
              <a:t>LIVE DEPLOYMENT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286000"/>
            <a:ext cx="5074920" cy="280720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A"/>
                </a:solidFill>
                <a:latin typeface="Aptos"/>
              </a:rPr>
              <a:t>Old frontend bundle; no sign-in control
Auth/persistence/demo routes: 404
Missing and malformed token results GET: 200
Idempotency-Key preflight: 400
Forecast probe: 500, no CORS header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559552"/>
            <a:ext cx="10058400" cy="38404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5F8FA"/>
                </a:solidFill>
                <a:latin typeface="Aptos"/>
              </a:rPr>
              <a:t>Redeploy matching builds; then verify CORS, Auth, DB, private Storage and one authenticated journey.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5603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3BD"/>
                </a:solidFill>
                <a:latin typeface="Aptos"/>
              </a:rPr>
              <a:t>14 / 5-MINUTE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A"/>
                </a:solidFill>
                <a:latin typeface="Aptos"/>
              </a:rPr>
              <a:t>Live demo: reliable local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10972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Use the synthetic endpoint if no safe, prepared, aligned satellite test data is available.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0972"/>
          </a:xfrm>
          <a:prstGeom prst="rect">
            <a:avLst/>
          </a:prstGeom>
          <a:solidFill>
            <a:srgbClr val="18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7C6CE"/>
                </a:solidFill>
                <a:latin typeface="Aptos"/>
              </a:rPr>
              <a:t>SATELLITE VISION  /  PHASE 16  /  2026-10-10                                    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685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7D3B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37360"/>
            <a:ext cx="8961120" cy="45720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5F8FA"/>
                </a:solidFill>
                <a:latin typeface="Aptos"/>
              </a:rPr>
              <a:t>Start local FastAPI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23744"/>
            <a:ext cx="685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7D3BD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523744"/>
            <a:ext cx="8961120" cy="45720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5F8FA"/>
                </a:solidFill>
                <a:latin typeface="Aptos"/>
              </a:rPr>
              <a:t>Open dashboard; click Demo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685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7D3BD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310128"/>
            <a:ext cx="8961120" cy="45720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5F8FA"/>
                </a:solidFill>
                <a:latin typeface="Aptos"/>
              </a:rPr>
              <a:t>Read synthetic indices + class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2"/>
            <a:ext cx="685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7D3BD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096512"/>
            <a:ext cx="8961120" cy="45720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5F8FA"/>
                </a:solidFill>
                <a:latin typeface="Aptos"/>
              </a:rPr>
              <a:t>Explain the supplied-GeoTIFF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82896"/>
            <a:ext cx="685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7D3BD"/>
                </a:solidFill>
                <a:latin typeface="Apto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882896"/>
            <a:ext cx="8961120" cy="45720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5F8FA"/>
                </a:solidFill>
                <a:latin typeface="Aptos"/>
              </a:rPr>
              <a:t>Disclose cloud and science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806440"/>
            <a:ext cx="1024128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C86B"/>
                </a:solidFill>
                <a:latin typeface="Aptos"/>
              </a:rPr>
              <a:t>Backup: local synthetic demo works without satellite-provider credentials or map tiles.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5603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3BD"/>
                </a:solidFill>
                <a:latin typeface="Aptos"/>
              </a:rPr>
              <a:t>15 /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A"/>
                </a:solidFill>
                <a:latin typeface="Aptos"/>
              </a:rPr>
              <a:t>Conclusion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10972800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6CE"/>
                </a:solidFill>
                <a:latin typeface="Aptos"/>
              </a:rPr>
              <a:t>A transparent software foundation; not yet a validated operational monitoring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0972"/>
          </a:xfrm>
          <a:prstGeom prst="rect">
            <a:avLst/>
          </a:prstGeom>
          <a:solidFill>
            <a:srgbClr val="18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972800" cy="16459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7C6CE"/>
                </a:solidFill>
                <a:latin typeface="Aptos"/>
              </a:rPr>
              <a:t>SATELLITE VISION  /  PHASE 16  /  2026-10-10                                     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5303520" cy="228600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5F8FA"/>
                </a:solidFill>
                <a:latin typeface="Aptos"/>
              </a:rPr>
              <a:t>Explainable calculations.
Explicit data-quality limits.
Reproducible local demo.
Honest cloud-verification boundary.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783080"/>
            <a:ext cx="4754880" cy="3383280"/>
          </a:xfrm>
          <a:prstGeom prst="roundRect">
            <a:avLst/>
          </a:prstGeom>
          <a:solidFill>
            <a:srgbClr val="183545"/>
          </a:solidFill>
          <a:ln w="15240">
            <a:solidFill>
              <a:srgbClr val="27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92807"/>
            <a:ext cx="4480560" cy="34747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7D3BD"/>
                </a:solidFill>
                <a:latin typeface="Aptos"/>
              </a:rPr>
              <a:t>SELECTED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480560" cy="2761488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5F8FA"/>
                </a:solidFill>
                <a:latin typeface="Aptos"/>
              </a:rPr>
              <a:t>Copernicus Sentinel-2 mission: sentiwiki.copernicus.eu/web/s2-mission
McFeeters NDWI (1996): doi.org/10.1080/01431169608948714
Zha et al. NDBI (2003): doi.org/10.1080/01431160304987
NASA NDVI: earthobservatory.nasa.gov/features/MeasuringVegetation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5BFFF"/>
                </a:solidFill>
                <a:latin typeface="Aptos"/>
              </a:rPr>
              <a:t>Next: redeploy and verify cloud journey; validate against documented scenes and independent ground truth.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Satellite Vision | Hackathon presentation</dc:title>
  <dc:subject>Evidence-based satellite raster analysis prototype</dc:subject>
  <dc:creator>Satellite Vision project team</dc:creator>
  <cp:keywords>satellite, geospatial, NDVI, hackathon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